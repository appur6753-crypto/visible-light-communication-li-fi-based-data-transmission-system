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105" r:id="rId1"/>
  </p:sldMasterIdLst>
  <p:notesMasterIdLst>
    <p:notesMasterId r:id="rId13"/>
  </p:notesMasterIdLst>
  <p:sldIdLst>
    <p:sldId id="811" r:id="rId2"/>
    <p:sldId id="812" r:id="rId3"/>
    <p:sldId id="894" r:id="rId4"/>
    <p:sldId id="897" r:id="rId5"/>
    <p:sldId id="893" r:id="rId6"/>
    <p:sldId id="892" r:id="rId7"/>
    <p:sldId id="918" r:id="rId8"/>
    <p:sldId id="913" r:id="rId9"/>
    <p:sldId id="901" r:id="rId10"/>
    <p:sldId id="919" r:id="rId11"/>
    <p:sldId id="911" r:id="rId12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57108" autoAdjust="0"/>
  </p:normalViewPr>
  <p:slideViewPr>
    <p:cSldViewPr>
      <p:cViewPr varScale="1">
        <p:scale>
          <a:sx n="73" d="100"/>
          <a:sy n="73" d="100"/>
        </p:scale>
        <p:origin x="1320" y="7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7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buFont typeface="Arial" panose="020B0604020202020204" pitchFamily="34" charset="0"/>
              <a:buNone/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7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buFont typeface="Arial" panose="020B0604020202020204" pitchFamily="34" charset="0"/>
              <a:buNone/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255713" y="719138"/>
            <a:ext cx="4802187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9300"/>
            <a:ext cx="5853113" cy="432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61" tIns="48331" rIns="96661" bIns="4833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8600"/>
            <a:ext cx="3168650" cy="481013"/>
          </a:xfrm>
          <a:prstGeom prst="rect">
            <a:avLst/>
          </a:prstGeom>
          <a:noFill/>
          <a:ln>
            <a:noFill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buFont typeface="Arial" panose="020B0604020202020204" pitchFamily="34" charset="0"/>
              <a:buNone/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>
            <a:noFill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buFont typeface="Arial" charset="0"/>
              <a:buNone/>
              <a:defRPr sz="1300" smtClean="0"/>
            </a:lvl1pPr>
          </a:lstStyle>
          <a:p>
            <a:pPr>
              <a:defRPr/>
            </a:pPr>
            <a:fld id="{D65A9E91-F113-4902-9BCE-511826671C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fld id="{09EF6A82-D20F-4279-A63D-494C3D49A2D6}" type="slidenum">
              <a:rPr lang="en-US" altLang="en-US">
                <a:latin typeface="Calibri" pitchFamily="34" charset="0"/>
                <a:cs typeface="Arial" charset="0"/>
              </a:rPr>
              <a:pPr>
                <a:buFontTx/>
                <a:buNone/>
              </a:pPr>
              <a:t>1</a:t>
            </a:fld>
            <a:endParaRPr lang="en-US" altLang="en-US">
              <a:latin typeface="Calibri" pitchFamily="34" charset="0"/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F6AA5F-0B1C-4D49-9215-7F0E4FDD3B83}" type="datetime1">
              <a:rPr lang="en-US"/>
              <a:pPr>
                <a:defRPr/>
              </a:pPr>
              <a:t>6/4/2026</a:t>
            </a:fld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0" y="583565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5BAEA28-2395-47EA-9B6B-FCFE0B23DD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F8261A-DD93-4488-B1EF-47DF26535A2A}" type="datetime1">
              <a:rPr lang="en-US"/>
              <a:pPr>
                <a:defRPr/>
              </a:pPr>
              <a:t>6/4/2026</a:t>
            </a:fld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C1784F-36E2-41DF-81F3-DCF35893B5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959990-3C7B-4430-B78D-311CD781313F}" type="datetime1">
              <a:rPr lang="en-US"/>
              <a:pPr>
                <a:defRPr/>
              </a:pPr>
              <a:t>6/4/2026</a:t>
            </a:fld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1B6C53-BE40-469A-AF26-2C0D07A222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31FC96-B6E4-42DC-B75A-47DB6FE66033}" type="datetime1">
              <a:rPr lang="en-US"/>
              <a:pPr>
                <a:defRPr/>
              </a:pPr>
              <a:t>6/4/2026</a:t>
            </a:fld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1D9F99-6474-4ACC-A551-24DFA43A82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49797C-5328-481A-8BF5-234BAF13F179}" type="datetime1">
              <a:rPr lang="en-US"/>
              <a:pPr>
                <a:defRPr/>
              </a:pPr>
              <a:t>6/4/2026</a:t>
            </a:fld>
            <a:endParaRPr lang="en-US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52677C-9E43-47A3-9BD7-A4356C1D58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C80EF6-F6EE-41F8-B67F-B7DA00861B79}" type="datetime1">
              <a:rPr lang="en-US"/>
              <a:pPr>
                <a:defRPr/>
              </a:pPr>
              <a:t>6/4/2026</a:t>
            </a:fld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759D58-BADE-4E30-8C07-244061ADB8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CFB851-3DC9-4B58-B317-D9CB5F64AD38}" type="datetime1">
              <a:rPr lang="en-US"/>
              <a:pPr>
                <a:defRPr/>
              </a:pPr>
              <a:t>6/4/2026</a:t>
            </a:fld>
            <a:endParaRPr 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507EF-E66D-4C54-97C4-732AE674AA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24C8E-E10E-4599-B844-2822AC64DDAF}" type="datetime1">
              <a:rPr lang="en-US"/>
              <a:pPr>
                <a:defRPr/>
              </a:pPr>
              <a:t>6/4/2026</a:t>
            </a:fld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01153E-F77D-48C0-8A36-A7A539F8B6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C6D64C-835D-475B-AD59-0424A7194C4A}" type="datetime1">
              <a:rPr lang="en-US"/>
              <a:pPr>
                <a:defRPr/>
              </a:pPr>
              <a:t>6/4/2026</a:t>
            </a:fld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02C707-3539-4224-A731-5B4CECBC0B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48E55C-FF4F-4ABD-B805-148426057EEA}" type="datetime1">
              <a:rPr lang="en-US"/>
              <a:pPr>
                <a:defRPr/>
              </a:pPr>
              <a:t>6/4/2026</a:t>
            </a:fld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C0B679-4734-41DC-8CC1-9BCA2A8103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7BAC6-A38C-43AE-A4A5-09ABD4107160}" type="datetime1">
              <a:rPr lang="en-US"/>
              <a:pPr>
                <a:defRPr/>
              </a:pPr>
              <a:t>6/4/2026</a:t>
            </a:fld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6CB781-E6A2-4029-950C-8D03C5A2BF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48A9CA-56DC-4D48-B9F7-8981E9A2A629}" type="datetime1">
              <a:rPr lang="en-US"/>
              <a:pPr>
                <a:defRPr/>
              </a:pPr>
              <a:t>6/4/2026</a:t>
            </a:fld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3885B-6BA0-4A1B-AD8A-EEA32BC373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45C016-D0E8-4039-A7B0-C16D42FD7190}" type="datetime1">
              <a:rPr lang="en-US"/>
              <a:pPr>
                <a:defRPr/>
              </a:pPr>
              <a:t>6/4/2026</a:t>
            </a:fld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EF3057-7FAA-46A6-BC95-C8F9456085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685800"/>
          </a:xfrm>
          <a:prstGeom prst="rect">
            <a:avLst/>
          </a:prstGeom>
          <a:gradFill rotWithShape="0"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5400000" scaled="1"/>
          </a:gra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/>
          </a:p>
        </p:txBody>
      </p:sp>
      <p:sp>
        <p:nvSpPr>
          <p:cNvPr id="1027" name="Line 13"/>
          <p:cNvSpPr>
            <a:spLocks noChangeShapeType="1"/>
          </p:cNvSpPr>
          <p:nvPr userDrawn="1"/>
        </p:nvSpPr>
        <p:spPr bwMode="auto">
          <a:xfrm>
            <a:off x="0" y="696913"/>
            <a:ext cx="9144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8" name="Text Box 14"/>
          <p:cNvSpPr txBox="1">
            <a:spLocks noChangeArrowheads="1"/>
          </p:cNvSpPr>
          <p:nvPr userDrawn="1"/>
        </p:nvSpPr>
        <p:spPr bwMode="auto">
          <a:xfrm>
            <a:off x="1524000" y="6324600"/>
            <a:ext cx="6477000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en-US" sz="1400" dirty="0">
                <a:solidFill>
                  <a:srgbClr val="0000FF"/>
                </a:solidFill>
              </a:rPr>
              <a:t>  Dept. of ECE, New Horizon College of Engineering, Bengaluru</a:t>
            </a:r>
          </a:p>
        </p:txBody>
      </p:sp>
      <p:sp>
        <p:nvSpPr>
          <p:cNvPr id="1029" name="Rectangle 15"/>
          <p:cNvSpPr>
            <a:spLocks noChangeArrowheads="1"/>
          </p:cNvSpPr>
          <p:nvPr userDrawn="1"/>
        </p:nvSpPr>
        <p:spPr bwMode="auto">
          <a:xfrm>
            <a:off x="4003675" y="3033713"/>
            <a:ext cx="127000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/>
          </a:p>
        </p:txBody>
      </p:sp>
      <p:sp>
        <p:nvSpPr>
          <p:cNvPr id="1030" name="Rectangle 17"/>
          <p:cNvSpPr>
            <a:spLocks noChangeArrowheads="1"/>
          </p:cNvSpPr>
          <p:nvPr userDrawn="1"/>
        </p:nvSpPr>
        <p:spPr bwMode="auto">
          <a:xfrm>
            <a:off x="4279900" y="3024188"/>
            <a:ext cx="127000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/>
          </a:p>
        </p:txBody>
      </p:sp>
      <p:sp>
        <p:nvSpPr>
          <p:cNvPr id="1031" name="Line 18"/>
          <p:cNvSpPr>
            <a:spLocks noChangeShapeType="1"/>
          </p:cNvSpPr>
          <p:nvPr userDrawn="1"/>
        </p:nvSpPr>
        <p:spPr bwMode="auto">
          <a:xfrm>
            <a:off x="0" y="6389688"/>
            <a:ext cx="9144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31507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fld id="{C855D755-067A-4591-81CB-27618996F4DE}" type="datetime1">
              <a:rPr lang="en-US"/>
              <a:pPr>
                <a:defRPr/>
              </a:pPr>
              <a:t>6/4/2026</a:t>
            </a:fld>
            <a:endParaRPr lang="en-US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59100" y="543718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04075" y="63627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charset="0"/>
              <a:buNone/>
              <a:defRPr sz="1400" smtClean="0"/>
            </a:lvl1pPr>
          </a:lstStyle>
          <a:p>
            <a:pPr>
              <a:defRPr/>
            </a:pPr>
            <a:fld id="{405B6196-540A-455E-9C85-238A93E7E2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7" name="Picture 12" descr="new horizon college of engineering logo க்கான பட முடிவு"/>
          <p:cNvPicPr>
            <a:picLocks noChangeAspect="1" noChangeArrowheads="1"/>
          </p:cNvPicPr>
          <p:nvPr userDrawn="1"/>
        </p:nvPicPr>
        <p:blipFill>
          <a:blip r:embed="rId15"/>
          <a:srcRect/>
          <a:stretch>
            <a:fillRect/>
          </a:stretch>
        </p:blipFill>
        <p:spPr bwMode="auto">
          <a:xfrm>
            <a:off x="0" y="0"/>
            <a:ext cx="1905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4" r:id="rId1"/>
    <p:sldLayoutId id="2147484342" r:id="rId2"/>
    <p:sldLayoutId id="2147484343" r:id="rId3"/>
    <p:sldLayoutId id="2147484344" r:id="rId4"/>
    <p:sldLayoutId id="2147484345" r:id="rId5"/>
    <p:sldLayoutId id="2147484346" r:id="rId6"/>
    <p:sldLayoutId id="2147484347" r:id="rId7"/>
    <p:sldLayoutId id="2147484348" r:id="rId8"/>
    <p:sldLayoutId id="2147484349" r:id="rId9"/>
    <p:sldLayoutId id="2147484350" r:id="rId10"/>
    <p:sldLayoutId id="2147484351" r:id="rId11"/>
    <p:sldLayoutId id="2147484352" r:id="rId12"/>
    <p:sldLayoutId id="2147484353" r:id="rId13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 noChangeArrowheads="1"/>
          </p:cNvSpPr>
          <p:nvPr>
            <p:ph type="ctrTitle"/>
          </p:nvPr>
        </p:nvSpPr>
        <p:spPr>
          <a:xfrm>
            <a:off x="228600" y="971550"/>
            <a:ext cx="8686800" cy="1009650"/>
          </a:xfrm>
        </p:spPr>
        <p:txBody>
          <a:bodyPr/>
          <a:lstStyle/>
          <a:p>
            <a:r>
              <a:rPr lang="en-US" alt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VISIBLE DATA COMMUNICATION ( Li-Fi) BASED DATA TRANSMISSION</a:t>
            </a:r>
          </a:p>
        </p:txBody>
      </p:sp>
      <p:sp>
        <p:nvSpPr>
          <p:cNvPr id="3075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endParaRPr lang="en-US" altLang="en-US" dirty="0"/>
          </a:p>
        </p:txBody>
      </p:sp>
      <p:sp>
        <p:nvSpPr>
          <p:cNvPr id="307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fld id="{A2733C5A-599B-4F95-AB05-8EEE8D3274CE}" type="slidenum">
              <a:rPr lang="en-US" altLang="en-US"/>
              <a:pPr>
                <a:buFontTx/>
                <a:buNone/>
              </a:pPr>
              <a:t>1</a:t>
            </a:fld>
            <a:endParaRPr lang="en-US" altLang="en-US"/>
          </a:p>
        </p:txBody>
      </p:sp>
      <p:sp>
        <p:nvSpPr>
          <p:cNvPr id="3077" name="Rectangle 4"/>
          <p:cNvSpPr>
            <a:spLocks noChangeArrowheads="1"/>
          </p:cNvSpPr>
          <p:nvPr/>
        </p:nvSpPr>
        <p:spPr bwMode="auto">
          <a:xfrm>
            <a:off x="0" y="4343400"/>
            <a:ext cx="6858000" cy="1894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ct val="20000"/>
              </a:spcBef>
            </a:pPr>
            <a:r>
              <a:rPr lang="en-IN" altLang="en-US" dirty="0"/>
              <a:t>Dr. </a:t>
            </a:r>
            <a:r>
              <a:rPr lang="en-IN" altLang="en-US" dirty="0" err="1"/>
              <a:t>Lipsa</a:t>
            </a:r>
            <a:r>
              <a:rPr lang="en-IN" altLang="en-US" dirty="0"/>
              <a:t> Dash</a:t>
            </a:r>
          </a:p>
          <a:p>
            <a:pPr>
              <a:lnSpc>
                <a:spcPct val="107000"/>
              </a:lnSpc>
              <a:spcBef>
                <a:spcPct val="20000"/>
              </a:spcBef>
            </a:pPr>
            <a:r>
              <a:rPr lang="en-IN" altLang="en-US" dirty="0"/>
              <a:t>Senior Associate Professor</a:t>
            </a:r>
          </a:p>
          <a:p>
            <a:pPr>
              <a:lnSpc>
                <a:spcPct val="107000"/>
              </a:lnSpc>
              <a:spcBef>
                <a:spcPct val="20000"/>
              </a:spcBef>
            </a:pPr>
            <a:r>
              <a:rPr lang="en-IN" altLang="en-US" dirty="0"/>
              <a:t>Department of ECE</a:t>
            </a:r>
          </a:p>
          <a:p>
            <a:pPr>
              <a:lnSpc>
                <a:spcPct val="107000"/>
              </a:lnSpc>
              <a:spcBef>
                <a:spcPct val="20000"/>
              </a:spcBef>
            </a:pPr>
            <a:r>
              <a:rPr lang="en-US" altLang="en-US" dirty="0"/>
              <a:t>New Horizon College of Engineering , </a:t>
            </a:r>
            <a:r>
              <a:rPr lang="en-US" altLang="en-US" dirty="0" err="1"/>
              <a:t>Bengaluru</a:t>
            </a:r>
            <a:endParaRPr lang="en-IN" altLang="en-US" dirty="0"/>
          </a:p>
        </p:txBody>
      </p:sp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0" y="3886200"/>
            <a:ext cx="21367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en-US" dirty="0"/>
              <a:t>Guided By:</a:t>
            </a:r>
          </a:p>
        </p:txBody>
      </p:sp>
      <p:sp>
        <p:nvSpPr>
          <p:cNvPr id="3079" name="TextBox 1"/>
          <p:cNvSpPr txBox="1">
            <a:spLocks noChangeArrowheads="1"/>
          </p:cNvSpPr>
          <p:nvPr/>
        </p:nvSpPr>
        <p:spPr bwMode="auto">
          <a:xfrm>
            <a:off x="1447800" y="2436813"/>
            <a:ext cx="58674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dirty="0">
                <a:latin typeface="+mn-lt"/>
              </a:rPr>
              <a:t> APPU RATHOD          1NH23EC015</a:t>
            </a:r>
          </a:p>
          <a:p>
            <a:r>
              <a:rPr lang="en-US" altLang="en-US" dirty="0">
                <a:latin typeface="+mn-lt"/>
              </a:rPr>
              <a:t> DARSHAN                  1NH23EC028</a:t>
            </a:r>
          </a:p>
        </p:txBody>
      </p:sp>
      <p:sp>
        <p:nvSpPr>
          <p:cNvPr id="3080" name="TextBox 3"/>
          <p:cNvSpPr txBox="1">
            <a:spLocks noChangeArrowheads="1"/>
          </p:cNvSpPr>
          <p:nvPr/>
        </p:nvSpPr>
        <p:spPr bwMode="auto">
          <a:xfrm>
            <a:off x="466725" y="76200"/>
            <a:ext cx="844867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3200" b="1" dirty="0">
                <a:cs typeface="Times New Roman" pitchFamily="18" charset="0"/>
              </a:rPr>
              <a:t>Mini Project 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"/>
          <p:cNvSpPr txBox="1">
            <a:spLocks noChangeArrowheads="1"/>
          </p:cNvSpPr>
          <p:nvPr/>
        </p:nvSpPr>
        <p:spPr bwMode="auto">
          <a:xfrm>
            <a:off x="0" y="76200"/>
            <a:ext cx="91090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3200" b="1"/>
              <a:t>Contents</a:t>
            </a:r>
            <a:endParaRPr lang="en-IN" altLang="en-US" sz="3200" b="1"/>
          </a:p>
        </p:txBody>
      </p:sp>
      <p:sp>
        <p:nvSpPr>
          <p:cNvPr id="4099" name="Rectangle 2"/>
          <p:cNvSpPr>
            <a:spLocks noChangeArrowheads="1"/>
          </p:cNvSpPr>
          <p:nvPr/>
        </p:nvSpPr>
        <p:spPr bwMode="auto">
          <a:xfrm>
            <a:off x="228714" y="1447852"/>
            <a:ext cx="8534400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altLang="en-US" dirty="0">
                <a:cs typeface="Times New Roman" pitchFamily="18" charset="0"/>
              </a:rPr>
              <a:t>Introduction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altLang="en-US" dirty="0">
                <a:cs typeface="Times New Roman" pitchFamily="18" charset="0"/>
              </a:rPr>
              <a:t>Literature Review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altLang="en-US" dirty="0">
                <a:cs typeface="Times New Roman" pitchFamily="18" charset="0"/>
              </a:rPr>
              <a:t>Existing System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altLang="en-US" dirty="0">
                <a:cs typeface="Times New Roman" pitchFamily="18" charset="0"/>
              </a:rPr>
              <a:t>Problem Statement &amp; Objectives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altLang="en-US" dirty="0">
                <a:cs typeface="Times New Roman" pitchFamily="18" charset="0"/>
              </a:rPr>
              <a:t>Proposed System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altLang="en-US" dirty="0">
                <a:cs typeface="Times New Roman" pitchFamily="18" charset="0"/>
              </a:rPr>
              <a:t>Feature Engineering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altLang="en-US" dirty="0">
                <a:cs typeface="Times New Roman" pitchFamily="18" charset="0"/>
              </a:rPr>
              <a:t>Block Diagram 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altLang="en-US" dirty="0">
                <a:cs typeface="Times New Roman" pitchFamily="18" charset="0"/>
              </a:rPr>
              <a:t>Results</a:t>
            </a:r>
          </a:p>
        </p:txBody>
      </p:sp>
      <p:sp>
        <p:nvSpPr>
          <p:cNvPr id="4100" name="Date Placeholder 1"/>
          <p:cNvSpPr>
            <a:spLocks noGrp="1"/>
          </p:cNvSpPr>
          <p:nvPr>
            <p:ph type="dt" sz="quarter" idx="10"/>
          </p:nvPr>
        </p:nvSpPr>
        <p:spPr>
          <a:xfrm>
            <a:off x="0" y="6400800"/>
            <a:ext cx="1905000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fld id="{8498527E-3659-4760-B95B-E697DCE926E1}" type="datetime1">
              <a:rPr lang="en-US" altLang="en-US" smtClean="0"/>
              <a:pPr>
                <a:buFontTx/>
                <a:buNone/>
              </a:pPr>
              <a:t>6/4/2026</a:t>
            </a:fld>
            <a:endParaRPr lang="en-US" altLang="en-US"/>
          </a:p>
        </p:txBody>
      </p:sp>
      <p:sp>
        <p:nvSpPr>
          <p:cNvPr id="4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204075" y="6400800"/>
            <a:ext cx="1905000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fld id="{5CE7095F-F892-474B-9ACD-EC97F2590E1C}" type="slidenum">
              <a:rPr lang="en-US" altLang="en-US"/>
              <a:pPr>
                <a:buFontTx/>
                <a:buNone/>
              </a:pPr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1"/>
          <p:cNvSpPr txBox="1">
            <a:spLocks noChangeArrowheads="1"/>
          </p:cNvSpPr>
          <p:nvPr/>
        </p:nvSpPr>
        <p:spPr bwMode="auto">
          <a:xfrm>
            <a:off x="0" y="76200"/>
            <a:ext cx="9109075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3200" b="1" dirty="0">
                <a:cs typeface="Times New Roman" pitchFamily="18" charset="0"/>
              </a:rPr>
              <a:t>Introduction</a:t>
            </a:r>
          </a:p>
          <a:p>
            <a:pPr algn="ctr"/>
            <a:endParaRPr lang="en-US" altLang="en-US" sz="3200" b="1" dirty="0">
              <a:cs typeface="Times New Roman" pitchFamily="18" charset="0"/>
            </a:endParaRPr>
          </a:p>
        </p:txBody>
      </p:sp>
      <p:sp>
        <p:nvSpPr>
          <p:cNvPr id="5123" name="Date Placeholder 1"/>
          <p:cNvSpPr>
            <a:spLocks noGrp="1"/>
          </p:cNvSpPr>
          <p:nvPr>
            <p:ph type="dt" sz="quarter" idx="10"/>
          </p:nvPr>
        </p:nvSpPr>
        <p:spPr>
          <a:xfrm>
            <a:off x="0" y="6400800"/>
            <a:ext cx="1905000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fld id="{E73855CB-5EFB-4A9C-AC37-60467268B27F}" type="datetime1">
              <a:rPr lang="en-US" altLang="en-US" smtClean="0"/>
              <a:pPr>
                <a:buFontTx/>
                <a:buNone/>
              </a:pPr>
              <a:t>6/4/2026</a:t>
            </a:fld>
            <a:endParaRPr lang="en-US" altLang="en-US"/>
          </a:p>
        </p:txBody>
      </p:sp>
      <p:sp>
        <p:nvSpPr>
          <p:cNvPr id="512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204075" y="6400800"/>
            <a:ext cx="1905000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fld id="{4905D01C-78A6-474E-A46E-BD0FCF50DDE8}" type="slidenum">
              <a:rPr lang="en-US" altLang="en-US"/>
              <a:pPr>
                <a:buFontTx/>
                <a:buNone/>
              </a:pPr>
              <a:t>3</a:t>
            </a:fld>
            <a:endParaRPr lang="en-US" altLang="en-US"/>
          </a:p>
        </p:txBody>
      </p:sp>
      <p:sp>
        <p:nvSpPr>
          <p:cNvPr id="5125" name="Rectangle 2"/>
          <p:cNvSpPr>
            <a:spLocks noChangeArrowheads="1"/>
          </p:cNvSpPr>
          <p:nvPr/>
        </p:nvSpPr>
        <p:spPr bwMode="auto">
          <a:xfrm>
            <a:off x="76200" y="612775"/>
            <a:ext cx="88392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 typeface="Wingdings" pitchFamily="2" charset="2"/>
              <a:buChar char="v"/>
            </a:pPr>
            <a:endParaRPr lang="en-IN" altLang="en-US" sz="1800" dirty="0"/>
          </a:p>
          <a:p>
            <a:pPr algn="just">
              <a:buFont typeface="Wingdings" pitchFamily="2" charset="2"/>
              <a:buChar char="v"/>
            </a:pPr>
            <a:endParaRPr lang="en-IN" altLang="en-US" sz="1800" dirty="0"/>
          </a:p>
          <a:p>
            <a:pPr algn="just">
              <a:buFont typeface="Wingdings" pitchFamily="2" charset="2"/>
              <a:buChar char="v"/>
            </a:pPr>
            <a:endParaRPr lang="en-IN" altLang="en-US" dirty="0"/>
          </a:p>
          <a:p>
            <a:endParaRPr lang="en-US" altLang="en-US" dirty="0">
              <a:cs typeface="Times New Roman" pitchFamily="18" charset="0"/>
            </a:endParaRPr>
          </a:p>
          <a:p>
            <a:endParaRPr lang="en-US" altLang="en-US" dirty="0">
              <a:cs typeface="Times New Roman" pitchFamily="18" charset="0"/>
            </a:endParaRPr>
          </a:p>
          <a:p>
            <a:endParaRPr lang="en-US" altLang="en-US" dirty="0">
              <a:cs typeface="Times New Roman" pitchFamily="18" charset="0"/>
            </a:endParaRPr>
          </a:p>
          <a:p>
            <a:endParaRPr lang="en-US" altLang="en-US" dirty="0">
              <a:cs typeface="Times New Roman" pitchFamily="18" charset="0"/>
            </a:endParaRPr>
          </a:p>
          <a:p>
            <a:endParaRPr lang="en-IN" altLang="en-US" dirty="0"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" y="914400"/>
            <a:ext cx="853440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What is Li-Fi ?</a:t>
            </a:r>
          </a:p>
          <a:p>
            <a:r>
              <a:rPr lang="en-US" sz="2000" dirty="0"/>
              <a:t>Li-Fi is a wireless communication technology that uses </a:t>
            </a:r>
            <a:r>
              <a:rPr lang="en-IN" sz="2000" dirty="0"/>
              <a:t>visible light to transmit data. Unlike Wi-Fi, which uses radio waves, Li-Fi transfers information through light signals generated by LED sources or mobile flashlights.</a:t>
            </a:r>
          </a:p>
          <a:p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/>
              <a:t>It is an alternative to traditional Wi-Fi communication.</a:t>
            </a:r>
          </a:p>
          <a:p>
            <a:endParaRPr lang="en-IN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/>
              <a:t>Mobile flashlight acts as the transmitter.</a:t>
            </a:r>
          </a:p>
          <a:p>
            <a:endParaRPr lang="en-IN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/>
              <a:t>LDR sensor acts as the receiver.</a:t>
            </a:r>
          </a:p>
          <a:p>
            <a:endParaRPr lang="en-IN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/>
              <a:t>Arduino UNO processes the received signal.</a:t>
            </a:r>
          </a:p>
          <a:p>
            <a:endParaRPr lang="en-IN" sz="1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/>
              <a:t> Received message is displayed on the LCD.</a:t>
            </a:r>
          </a:p>
          <a:p>
            <a:endParaRPr lang="en-IN" sz="1800" dirty="0"/>
          </a:p>
          <a:p>
            <a:endParaRPr lang="en-IN" altLang="en-US" sz="1800" dirty="0">
              <a:cs typeface="Times New Roman" pitchFamily="18" charset="0"/>
            </a:endParaRPr>
          </a:p>
          <a:p>
            <a:endParaRPr lang="en-IN" altLang="en-US" sz="1600" b="1" dirty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1"/>
          <p:cNvSpPr txBox="1">
            <a:spLocks noChangeArrowheads="1"/>
          </p:cNvSpPr>
          <p:nvPr/>
        </p:nvSpPr>
        <p:spPr bwMode="auto">
          <a:xfrm>
            <a:off x="0" y="76200"/>
            <a:ext cx="91090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3200" b="1" dirty="0">
                <a:cs typeface="Times New Roman" pitchFamily="18" charset="0"/>
              </a:rPr>
              <a:t>Literature Review </a:t>
            </a:r>
          </a:p>
        </p:txBody>
      </p:sp>
      <p:sp>
        <p:nvSpPr>
          <p:cNvPr id="7171" name="Date Placeholder 1"/>
          <p:cNvSpPr>
            <a:spLocks noGrp="1"/>
          </p:cNvSpPr>
          <p:nvPr>
            <p:ph type="dt" sz="quarter" idx="10"/>
          </p:nvPr>
        </p:nvSpPr>
        <p:spPr>
          <a:xfrm>
            <a:off x="0" y="6400800"/>
            <a:ext cx="1905000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fld id="{CCE804B8-1380-438D-A6A1-020E44B4868B}" type="datetime1">
              <a:rPr lang="en-US" altLang="en-US" smtClean="0"/>
              <a:pPr>
                <a:buFontTx/>
                <a:buNone/>
              </a:pPr>
              <a:t>6/4/2026</a:t>
            </a:fld>
            <a:endParaRPr lang="en-US" altLang="en-US"/>
          </a:p>
        </p:txBody>
      </p:sp>
      <p:sp>
        <p:nvSpPr>
          <p:cNvPr id="717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204075" y="6400800"/>
            <a:ext cx="1905000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fld id="{CDBF1C02-0422-469C-8F32-626FC46AFAE3}" type="slidenum">
              <a:rPr lang="en-US" altLang="en-US"/>
              <a:pPr>
                <a:buFontTx/>
                <a:buNone/>
              </a:pPr>
              <a:t>4</a:t>
            </a:fld>
            <a:endParaRPr lang="en-US" alt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952675"/>
              </p:ext>
            </p:extLst>
          </p:nvPr>
        </p:nvGraphicFramePr>
        <p:xfrm>
          <a:off x="0" y="685800"/>
          <a:ext cx="9144000" cy="5714922"/>
        </p:xfrm>
        <a:graphic>
          <a:graphicData uri="http://schemas.openxmlformats.org/drawingml/2006/table">
            <a:tbl>
              <a:tblPr/>
              <a:tblGrid>
                <a:gridCol w="1699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5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3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8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1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173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8669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6451600" algn="r"/>
                        </a:tabLst>
                      </a:pPr>
                      <a:r>
                        <a:rPr lang="en-IN" sz="1500" b="1" dirty="0" err="1">
                          <a:latin typeface="Times New Roman"/>
                          <a:ea typeface="Aptos"/>
                          <a:cs typeface="Times New Roman"/>
                        </a:rPr>
                        <a:t>Sytem</a:t>
                      </a:r>
                      <a:r>
                        <a:rPr lang="en-IN" sz="1500" b="1" dirty="0">
                          <a:latin typeface="Times New Roman"/>
                          <a:ea typeface="Aptos"/>
                          <a:cs typeface="Times New Roman"/>
                        </a:rPr>
                        <a:t> / Paper</a:t>
                      </a:r>
                      <a:endParaRPr lang="en-US" sz="1500" dirty="0"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8669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6451600" algn="r"/>
                        </a:tabLst>
                      </a:pPr>
                      <a:r>
                        <a:rPr lang="en-IN" sz="1500" b="1" dirty="0">
                          <a:latin typeface="Times New Roman"/>
                          <a:ea typeface="Aptos"/>
                          <a:cs typeface="Times New Roman"/>
                        </a:rPr>
                        <a:t>Key Methodology</a:t>
                      </a:r>
                      <a:endParaRPr lang="en-US" sz="1500" dirty="0"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8669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6451600" algn="r"/>
                        </a:tabLst>
                      </a:pPr>
                      <a:r>
                        <a:rPr lang="en-IN" sz="1500" b="1" dirty="0">
                          <a:latin typeface="Times New Roman"/>
                          <a:ea typeface="Aptos"/>
                          <a:cs typeface="Times New Roman"/>
                        </a:rPr>
                        <a:t>Strengths</a:t>
                      </a:r>
                      <a:endParaRPr lang="en-US" sz="1500" dirty="0"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8669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6451600" algn="r"/>
                        </a:tabLst>
                      </a:pPr>
                      <a:r>
                        <a:rPr lang="en-IN" sz="1500" b="1" dirty="0">
                          <a:latin typeface="Times New Roman"/>
                          <a:ea typeface="Aptos"/>
                          <a:cs typeface="Times New Roman"/>
                        </a:rPr>
                        <a:t>Limitations Identified in Literature</a:t>
                      </a:r>
                      <a:endParaRPr lang="en-US" sz="1500" dirty="0"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8669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6451600" algn="r"/>
                        </a:tabLst>
                      </a:pPr>
                      <a:r>
                        <a:rPr lang="en-IN" sz="1500" b="1" dirty="0">
                          <a:latin typeface="Times New Roman"/>
                          <a:ea typeface="Aptos"/>
                          <a:cs typeface="Times New Roman"/>
                        </a:rPr>
                        <a:t>Comparison to Proposed System</a:t>
                      </a:r>
                      <a:endParaRPr lang="en-US" sz="1500" dirty="0"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85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8669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6451600" algn="r"/>
                        </a:tabLst>
                      </a:pPr>
                      <a:r>
                        <a:rPr lang="en-IN" sz="1500" b="1" dirty="0"/>
                        <a:t>Harald Haas (2011)</a:t>
                      </a:r>
                      <a:r>
                        <a:rPr lang="en-IN" sz="1500" dirty="0"/>
                        <a:t> – Li-Fi Data Transmission through Visible Light</a:t>
                      </a:r>
                      <a:endParaRPr lang="en-US" sz="1500" b="0" dirty="0"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8669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6451600" algn="r"/>
                        </a:tabLst>
                      </a:pPr>
                      <a:r>
                        <a:rPr lang="en-IN" sz="1500" dirty="0"/>
                        <a:t>Used LED light modulation for data transmission</a:t>
                      </a:r>
                      <a:endParaRPr lang="en-US" sz="1500" dirty="0"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8669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6451600" algn="r"/>
                        </a:tabLst>
                      </a:pPr>
                      <a:r>
                        <a:rPr lang="en-IN" sz="1600" dirty="0"/>
                        <a:t>Introduced Li-Fi technology and high-speed communication</a:t>
                      </a:r>
                      <a:endParaRPr lang="en-US" sz="1500" dirty="0"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8669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6451600" algn="r"/>
                        </a:tabLst>
                      </a:pPr>
                      <a:r>
                        <a:rPr lang="en-IN" sz="1600" dirty="0"/>
                        <a:t>Requires direct line-of-sight communication</a:t>
                      </a:r>
                      <a:endParaRPr lang="en-US" sz="1500" dirty="0"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8669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6451600" algn="r"/>
                        </a:tabLst>
                      </a:pPr>
                      <a:r>
                        <a:rPr lang="en-IN" sz="1600" dirty="0"/>
                        <a:t>Our system uses a mobile flashlight and LDR sensor for simple text transmission</a:t>
                      </a:r>
                      <a:endParaRPr lang="en-US" sz="1500" dirty="0"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45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8669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6451600" algn="r"/>
                        </a:tabLst>
                      </a:pPr>
                      <a:r>
                        <a:rPr lang="en-IN" sz="1600" b="1" dirty="0"/>
                        <a:t>S. Rajagopal et al. (2014)</a:t>
                      </a:r>
                      <a:r>
                        <a:rPr lang="en-IN" sz="1600" dirty="0"/>
                        <a:t> – Design and Implementation of Li-Fi System</a:t>
                      </a:r>
                      <a:endParaRPr lang="en-US" sz="1500" b="0" dirty="0"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8669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6451600" algn="r"/>
                        </a:tabLst>
                      </a:pPr>
                      <a:r>
                        <a:rPr lang="en-IN" sz="1600" dirty="0"/>
                        <a:t>Used LED and photodiode for audio and data transmission</a:t>
                      </a:r>
                      <a:endParaRPr lang="en-US" sz="1500" dirty="0"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8669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6451600" algn="r"/>
                        </a:tabLst>
                      </a:pPr>
                      <a:r>
                        <a:rPr lang="en-IN" sz="1600" dirty="0"/>
                        <a:t>Practical implementation of Li-Fi communication</a:t>
                      </a:r>
                      <a:endParaRPr lang="en-US" sz="1500" dirty="0"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8669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6451600" algn="r"/>
                        </a:tabLst>
                      </a:pPr>
                      <a:r>
                        <a:rPr lang="en-IN" sz="1600" dirty="0"/>
                        <a:t>Affected by external light sources</a:t>
                      </a:r>
                      <a:endParaRPr lang="en-US" sz="1500" dirty="0"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8669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6451600" algn="r"/>
                        </a:tabLst>
                      </a:pPr>
                      <a:r>
                        <a:rPr lang="en-IN" sz="1600" dirty="0"/>
                        <a:t>Our system focuses on text transmission using Arduino UNO and LCD display</a:t>
                      </a:r>
                      <a:endParaRPr lang="en-US" sz="1500" dirty="0"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44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8669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6451600" algn="r"/>
                        </a:tabLst>
                      </a:pPr>
                      <a:r>
                        <a:rPr lang="en-IN" sz="1600" b="1" dirty="0"/>
                        <a:t>IEEE Researchers (2015)</a:t>
                      </a:r>
                      <a:r>
                        <a:rPr lang="en-IN" sz="1600" dirty="0"/>
                        <a:t> – Visible Light Communication</a:t>
                      </a:r>
                      <a:endParaRPr lang="en-US" sz="1500" b="0" dirty="0"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8669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6451600" algn="r"/>
                        </a:tabLst>
                      </a:pPr>
                      <a:r>
                        <a:rPr lang="en-IN" sz="1600" dirty="0"/>
                        <a:t>Used LED transmitters and photodetector receivers</a:t>
                      </a:r>
                      <a:endParaRPr lang="en-US" sz="1500" dirty="0"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8669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6451600" algn="r"/>
                        </a:tabLst>
                      </a:pPr>
                      <a:r>
                        <a:rPr lang="en-IN" sz="1600" dirty="0"/>
                        <a:t>Secure indoor communication with high data rates</a:t>
                      </a:r>
                      <a:endParaRPr lang="en-US" sz="1500" dirty="0"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8669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6451600" algn="r"/>
                        </a:tabLst>
                      </a:pPr>
                      <a:r>
                        <a:rPr lang="en-IN" sz="1600" dirty="0"/>
                        <a:t>Limited coverage and blocked by obstacles</a:t>
                      </a:r>
                      <a:endParaRPr lang="en-US" sz="1500" dirty="0"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18669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6451600" algn="r"/>
                        </a:tabLst>
                      </a:pPr>
                      <a:r>
                        <a:rPr lang="en-IN" sz="1600" dirty="0"/>
                        <a:t>Our project uses low-cost components and is easier to implement</a:t>
                      </a:r>
                      <a:endParaRPr lang="en-US" sz="1500" dirty="0">
                        <a:latin typeface="Aptos"/>
                        <a:ea typeface="Aptos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"/>
          <p:cNvSpPr txBox="1">
            <a:spLocks noChangeArrowheads="1"/>
          </p:cNvSpPr>
          <p:nvPr/>
        </p:nvSpPr>
        <p:spPr bwMode="auto">
          <a:xfrm>
            <a:off x="0" y="76200"/>
            <a:ext cx="91090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3200" b="1" dirty="0">
                <a:cs typeface="Times New Roman" pitchFamily="18" charset="0"/>
              </a:rPr>
              <a:t>Existing System</a:t>
            </a:r>
          </a:p>
        </p:txBody>
      </p:sp>
      <p:sp>
        <p:nvSpPr>
          <p:cNvPr id="8195" name="Date Placeholder 1"/>
          <p:cNvSpPr>
            <a:spLocks noGrp="1"/>
          </p:cNvSpPr>
          <p:nvPr>
            <p:ph type="dt" sz="quarter" idx="10"/>
          </p:nvPr>
        </p:nvSpPr>
        <p:spPr>
          <a:xfrm>
            <a:off x="0" y="6400800"/>
            <a:ext cx="1905000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fld id="{DEA79637-98EE-444B-B260-B8D2537D2761}" type="datetime1">
              <a:rPr lang="en-US" altLang="en-US" smtClean="0"/>
              <a:pPr>
                <a:buFontTx/>
                <a:buNone/>
              </a:pPr>
              <a:t>6/4/2026</a:t>
            </a:fld>
            <a:endParaRPr lang="en-US" altLang="en-US"/>
          </a:p>
        </p:txBody>
      </p:sp>
      <p:sp>
        <p:nvSpPr>
          <p:cNvPr id="819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204075" y="6400800"/>
            <a:ext cx="1905000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fld id="{FEAB231C-972C-47C2-A4E5-85AEB8674110}" type="slidenum">
              <a:rPr lang="en-US" altLang="en-US"/>
              <a:pPr>
                <a:buFontTx/>
                <a:buNone/>
              </a:pPr>
              <a:t>5</a:t>
            </a:fld>
            <a:endParaRPr lang="en-US" altLang="en-US"/>
          </a:p>
        </p:txBody>
      </p:sp>
      <p:sp>
        <p:nvSpPr>
          <p:cNvPr id="6" name="Rectangle 5"/>
          <p:cNvSpPr/>
          <p:nvPr/>
        </p:nvSpPr>
        <p:spPr>
          <a:xfrm>
            <a:off x="76318" y="1600248"/>
            <a:ext cx="9144000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</a:t>
            </a:r>
            <a:r>
              <a:rPr lang="en-IN" b="1" dirty="0"/>
              <a:t>Wi-Fi Based Communication</a:t>
            </a:r>
          </a:p>
          <a:p>
            <a:r>
              <a:rPr lang="en-IN" sz="2000" b="1" dirty="0"/>
              <a:t>Method:</a:t>
            </a:r>
            <a:r>
              <a:rPr lang="en-IN" sz="2000" dirty="0"/>
              <a:t> Uses radio frequency (RF) signals for wireless data transmission.</a:t>
            </a:r>
          </a:p>
          <a:p>
            <a:r>
              <a:rPr lang="en-IN" sz="2000" b="1" dirty="0"/>
              <a:t>Limitations:</a:t>
            </a:r>
            <a:r>
              <a:rPr lang="en-IN" sz="2000" dirty="0"/>
              <a:t> RF spectrum congestion, signal interference, security issues, and reduced performance in crowded networks.</a:t>
            </a:r>
          </a:p>
          <a:p>
            <a:br>
              <a:rPr lang="en-IN" sz="2000" dirty="0"/>
            </a:br>
            <a:endParaRPr lang="en-US" sz="1800" dirty="0"/>
          </a:p>
          <a:p>
            <a:r>
              <a:rPr lang="en-IN" b="1" dirty="0"/>
              <a:t>2. Conventional Li-Fi Systems</a:t>
            </a:r>
          </a:p>
          <a:p>
            <a:r>
              <a:rPr lang="en-IN" sz="2000" b="1" dirty="0"/>
              <a:t>Method:</a:t>
            </a:r>
            <a:r>
              <a:rPr lang="en-IN" sz="2000" dirty="0"/>
              <a:t> Uses LED transmitters and photodiode receivers for visible light communication.</a:t>
            </a:r>
          </a:p>
          <a:p>
            <a:r>
              <a:rPr lang="en-IN" sz="2000" b="1" dirty="0"/>
              <a:t>Limitations:</a:t>
            </a:r>
            <a:r>
              <a:rPr lang="en-IN" sz="2000" dirty="0"/>
              <a:t> Requires direct line-of-sight communication, affected by ambient light, and limited communication range.</a:t>
            </a:r>
            <a:endParaRPr lang="en-US" sz="1800" dirty="0"/>
          </a:p>
          <a:p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1"/>
          <p:cNvSpPr txBox="1">
            <a:spLocks noChangeArrowheads="1"/>
          </p:cNvSpPr>
          <p:nvPr/>
        </p:nvSpPr>
        <p:spPr bwMode="auto">
          <a:xfrm>
            <a:off x="0" y="76200"/>
            <a:ext cx="91090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3200" b="1" dirty="0"/>
              <a:t>       Problem Statement &amp; Objectives</a:t>
            </a:r>
            <a:endParaRPr lang="en-IN" altLang="en-US" sz="3200" b="1" dirty="0"/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304800" y="914400"/>
            <a:ext cx="8382000" cy="4124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en-US" b="1" dirty="0">
                <a:cs typeface="Times New Roman" pitchFamily="18" charset="0"/>
              </a:rPr>
              <a:t>Problem Statement:</a:t>
            </a:r>
          </a:p>
          <a:p>
            <a:endParaRPr lang="en-US" altLang="en-US" sz="1800" b="1" dirty="0">
              <a:cs typeface="Times New Roman" pitchFamily="18" charset="0"/>
            </a:endParaRPr>
          </a:p>
          <a:p>
            <a:r>
              <a:rPr lang="en-IN" sz="2000" b="1" dirty="0"/>
              <a:t>Core Challenge:</a:t>
            </a:r>
            <a:r>
              <a:rPr lang="en-IN" sz="2000" dirty="0"/>
              <a:t> Traditional wireless communication systems face signal interference, Security concerns, Limited RF spectrum availability.</a:t>
            </a:r>
          </a:p>
          <a:p>
            <a:endParaRPr lang="en-US" sz="2000" dirty="0"/>
          </a:p>
          <a:p>
            <a:r>
              <a:rPr lang="en-IN" sz="2000" b="1" dirty="0"/>
              <a:t>Objectives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To transmit text data using visible light communication.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Receive light signals using an LDR sensor.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Process received data using Arduino UNO.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Display the received message on a 16×2 LCD.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Demonstrate a simple and low-cost Li-Fi communication system.</a:t>
            </a:r>
          </a:p>
          <a:p>
            <a:br>
              <a:rPr lang="en-IN" sz="2000" dirty="0"/>
            </a:br>
            <a:endParaRPr lang="en-IN" sz="2000" dirty="0"/>
          </a:p>
        </p:txBody>
      </p:sp>
      <p:sp>
        <p:nvSpPr>
          <p:cNvPr id="9220" name="Date Placeholder 1"/>
          <p:cNvSpPr>
            <a:spLocks noGrp="1"/>
          </p:cNvSpPr>
          <p:nvPr>
            <p:ph type="dt" sz="quarter" idx="10"/>
          </p:nvPr>
        </p:nvSpPr>
        <p:spPr>
          <a:xfrm>
            <a:off x="0" y="6400800"/>
            <a:ext cx="1905000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fld id="{768CEF3C-1889-4605-AD71-20204AD10B17}" type="datetime1">
              <a:rPr lang="en-US" altLang="en-US" smtClean="0"/>
              <a:pPr>
                <a:buFontTx/>
                <a:buNone/>
              </a:pPr>
              <a:t>6/4/2026</a:t>
            </a:fld>
            <a:endParaRPr lang="en-US" altLang="en-US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204075" y="6400800"/>
            <a:ext cx="1905000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fld id="{4E09A737-56B6-49D6-AF30-69B9D91532DD}" type="slidenum">
              <a:rPr lang="en-US" altLang="en-US"/>
              <a:pPr>
                <a:buFontTx/>
                <a:buNone/>
              </a:pPr>
              <a:t>6</a:t>
            </a:fld>
            <a:endParaRPr lang="en-US" altLang="en-US"/>
          </a:p>
        </p:txBody>
      </p:sp>
      <p:sp>
        <p:nvSpPr>
          <p:cNvPr id="9222" name="Rectangle 5"/>
          <p:cNvSpPr>
            <a:spLocks noChangeArrowheads="1"/>
          </p:cNvSpPr>
          <p:nvPr/>
        </p:nvSpPr>
        <p:spPr bwMode="auto">
          <a:xfrm>
            <a:off x="304800" y="3048000"/>
            <a:ext cx="8534400" cy="237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altLang="en-US" b="1" dirty="0">
              <a:cs typeface="Times New Roman" pitchFamily="18" charset="0"/>
            </a:endParaRPr>
          </a:p>
          <a:p>
            <a:endParaRPr lang="en-US" altLang="en-US" b="1" dirty="0">
              <a:cs typeface="Times New Roman" pitchFamily="18" charset="0"/>
            </a:endParaRPr>
          </a:p>
          <a:p>
            <a:endParaRPr lang="en-US" altLang="en-US" b="1" dirty="0">
              <a:cs typeface="Times New Roman" pitchFamily="18" charset="0"/>
            </a:endParaRPr>
          </a:p>
          <a:p>
            <a:endParaRPr lang="en-US" altLang="en-US" sz="2800" b="1" dirty="0">
              <a:cs typeface="Times New Roman" pitchFamily="18" charset="0"/>
            </a:endParaRPr>
          </a:p>
          <a:p>
            <a:endParaRPr lang="en-US" altLang="en-US" b="1" dirty="0">
              <a:cs typeface="Times New Roman" pitchFamily="18" charset="0"/>
            </a:endParaRPr>
          </a:p>
          <a:p>
            <a:r>
              <a:rPr lang="en-US" altLang="en-US" dirty="0">
                <a:cs typeface="Times New Roman" pitchFamily="18" charset="0"/>
              </a:rPr>
              <a:t> </a:t>
            </a:r>
          </a:p>
        </p:txBody>
      </p:sp>
      <p:sp>
        <p:nvSpPr>
          <p:cNvPr id="9223" name="Rectangle 1"/>
          <p:cNvSpPr>
            <a:spLocks noChangeArrowheads="1"/>
          </p:cNvSpPr>
          <p:nvPr/>
        </p:nvSpPr>
        <p:spPr bwMode="auto">
          <a:xfrm>
            <a:off x="1066800" y="2252663"/>
            <a:ext cx="57959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/>
              <a:t>.</a:t>
            </a:r>
            <a:endParaRPr lang="en-I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7BF8A-F39D-0B5D-5E24-2CC17D9D9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1">
            <a:extLst>
              <a:ext uri="{FF2B5EF4-FFF2-40B4-BE49-F238E27FC236}">
                <a16:creationId xmlns:a16="http://schemas.microsoft.com/office/drawing/2014/main" id="{4907ED71-30CF-91BE-C21C-56BDC1B44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91090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3200" b="1" dirty="0"/>
              <a:t>       Proposed System</a:t>
            </a:r>
            <a:endParaRPr lang="en-IN" altLang="en-US" sz="3200" b="1" dirty="0"/>
          </a:p>
        </p:txBody>
      </p:sp>
      <p:sp>
        <p:nvSpPr>
          <p:cNvPr id="9220" name="Date Placeholder 1">
            <a:extLst>
              <a:ext uri="{FF2B5EF4-FFF2-40B4-BE49-F238E27FC236}">
                <a16:creationId xmlns:a16="http://schemas.microsoft.com/office/drawing/2014/main" id="{E43A2FF0-B8A5-706A-F1BE-13552ABAA48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0" y="6400800"/>
            <a:ext cx="1905000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fld id="{768CEF3C-1889-4605-AD71-20204AD10B17}" type="datetime1">
              <a:rPr lang="en-US" altLang="en-US" smtClean="0"/>
              <a:pPr>
                <a:buFontTx/>
                <a:buNone/>
              </a:pPr>
              <a:t>6/4/2026</a:t>
            </a:fld>
            <a:endParaRPr lang="en-US" altLang="en-US"/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78D509BF-9065-CAAB-B200-238E76C0D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04075" y="6400800"/>
            <a:ext cx="1905000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fld id="{4E09A737-56B6-49D6-AF30-69B9D91532DD}" type="slidenum">
              <a:rPr lang="en-US" altLang="en-US"/>
              <a:pPr>
                <a:buFontTx/>
                <a:buNone/>
              </a:pPr>
              <a:t>7</a:t>
            </a:fld>
            <a:endParaRPr lang="en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92E3B9-640D-8DBE-AC9B-D6B0FC710212}"/>
              </a:ext>
            </a:extLst>
          </p:cNvPr>
          <p:cNvSpPr txBox="1"/>
          <p:nvPr/>
        </p:nvSpPr>
        <p:spPr>
          <a:xfrm>
            <a:off x="363647" y="1295456"/>
            <a:ext cx="83817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Core Concept: </a:t>
            </a:r>
            <a:r>
              <a:rPr lang="en-IN" sz="2000" dirty="0"/>
              <a:t>Li-Fi based wireless data transmission using visible light communication.</a:t>
            </a:r>
          </a:p>
          <a:p>
            <a:endParaRPr lang="en-US" sz="2000" dirty="0"/>
          </a:p>
          <a:p>
            <a:r>
              <a:rPr lang="en-US" sz="2000" b="1" dirty="0"/>
              <a:t>Objective: </a:t>
            </a:r>
            <a:r>
              <a:rPr lang="en-IN" sz="2000" dirty="0"/>
              <a:t>Transmit text data through mobile flashlight and receive it using an LDR sensor.</a:t>
            </a:r>
          </a:p>
          <a:p>
            <a:endParaRPr lang="en-IN" sz="2000" dirty="0"/>
          </a:p>
          <a:p>
            <a:r>
              <a:rPr lang="en-IN" sz="2000" b="1" dirty="0"/>
              <a:t>Proposed Approach: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Li-Fi Mobile App: Converts text into light signals using the mobile     flashlight.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LDR Sensor: Detects the transmitted light variations.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Arduino UNO: Processes and decodes the received signal.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LCD Display: Displays the received text message.</a:t>
            </a:r>
          </a:p>
        </p:txBody>
      </p:sp>
    </p:spTree>
    <p:extLst>
      <p:ext uri="{BB962C8B-B14F-4D97-AF65-F5344CB8AC3E}">
        <p14:creationId xmlns:p14="http://schemas.microsoft.com/office/powerpoint/2010/main" val="3697459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Date Placeholder 1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fld id="{7C2BF166-9753-4CCE-B66D-9876F3E6EDBE}" type="datetime1">
              <a:rPr lang="en-US" altLang="en-US" smtClean="0"/>
              <a:pPr>
                <a:buFontTx/>
                <a:buNone/>
              </a:pPr>
              <a:t>6/4/2026</a:t>
            </a:fld>
            <a:endParaRPr lang="en-US" altLang="en-US"/>
          </a:p>
        </p:txBody>
      </p:sp>
      <p:sp>
        <p:nvSpPr>
          <p:cNvPr id="1024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fld id="{CF741B5E-4EF6-4B7F-84EA-905D75C6785F}" type="slidenum">
              <a:rPr lang="en-US" altLang="en-US"/>
              <a:pPr>
                <a:buFontTx/>
                <a:buNone/>
              </a:pPr>
              <a:t>8</a:t>
            </a:fld>
            <a:endParaRPr lang="en-US" altLang="en-US"/>
          </a:p>
        </p:txBody>
      </p:sp>
      <p:sp>
        <p:nvSpPr>
          <p:cNvPr id="4" name="Rectangle 3"/>
          <p:cNvSpPr/>
          <p:nvPr/>
        </p:nvSpPr>
        <p:spPr>
          <a:xfrm>
            <a:off x="0" y="-311150"/>
            <a:ext cx="89916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sz="1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E15F63-83BF-F26F-F7F3-3C24715FDEA1}"/>
              </a:ext>
            </a:extLst>
          </p:cNvPr>
          <p:cNvSpPr txBox="1"/>
          <p:nvPr/>
        </p:nvSpPr>
        <p:spPr>
          <a:xfrm>
            <a:off x="76318" y="85725"/>
            <a:ext cx="899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Feature Engineering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06DD33-FC95-6B15-70C8-55FE2B18EA5A}"/>
              </a:ext>
            </a:extLst>
          </p:cNvPr>
          <p:cNvSpPr txBox="1"/>
          <p:nvPr/>
        </p:nvSpPr>
        <p:spPr>
          <a:xfrm>
            <a:off x="228656" y="944265"/>
            <a:ext cx="868668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System </a:t>
            </a:r>
            <a:r>
              <a:rPr lang="en-IN" b="1"/>
              <a:t>Workflow </a:t>
            </a:r>
            <a:endParaRPr lang="en-IN" b="1" dirty="0"/>
          </a:p>
          <a:p>
            <a:endParaRPr lang="en-IN" sz="1800" b="1" dirty="0"/>
          </a:p>
          <a:p>
            <a:r>
              <a:rPr lang="en-IN" sz="1800" b="1" dirty="0"/>
              <a:t>Input Features:</a:t>
            </a:r>
          </a:p>
          <a:p>
            <a:endParaRPr lang="en-IN" sz="1800" b="1" dirty="0"/>
          </a:p>
          <a:p>
            <a:r>
              <a:rPr lang="en-IN" sz="1800" dirty="0"/>
              <a:t>Transmission : Mobile flashlight converts text into visible light signals.  </a:t>
            </a:r>
          </a:p>
          <a:p>
            <a:endParaRPr lang="en-IN" sz="1800" dirty="0"/>
          </a:p>
          <a:p>
            <a:r>
              <a:rPr lang="en-IN" sz="1800" dirty="0"/>
              <a:t>Receiver Input : LDR sensor detects light intensity variations.  </a:t>
            </a:r>
          </a:p>
          <a:p>
            <a:endParaRPr lang="en-IN" sz="1800" dirty="0"/>
          </a:p>
          <a:p>
            <a:r>
              <a:rPr lang="en-IN" sz="1800" dirty="0"/>
              <a:t>Signal Processing : Arduino UNO reads and processes the received signals.  </a:t>
            </a:r>
          </a:p>
          <a:p>
            <a:endParaRPr lang="en-IN" sz="1800" dirty="0"/>
          </a:p>
          <a:p>
            <a:r>
              <a:rPr lang="en-IN" sz="1800" dirty="0"/>
              <a:t>Output : Decoded message displayed on 16×2 LCD display.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"/>
          <p:cNvSpPr txBox="1">
            <a:spLocks noChangeArrowheads="1"/>
          </p:cNvSpPr>
          <p:nvPr/>
        </p:nvSpPr>
        <p:spPr bwMode="auto">
          <a:xfrm>
            <a:off x="0" y="76200"/>
            <a:ext cx="91090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IN" altLang="en-US" sz="3200" b="1" dirty="0"/>
              <a:t>BLOCK DIAGRAM </a:t>
            </a:r>
          </a:p>
        </p:txBody>
      </p:sp>
      <p:sp>
        <p:nvSpPr>
          <p:cNvPr id="12291" name="Date Placeholder 1"/>
          <p:cNvSpPr>
            <a:spLocks noGrp="1"/>
          </p:cNvSpPr>
          <p:nvPr>
            <p:ph type="dt" sz="quarter" idx="10"/>
          </p:nvPr>
        </p:nvSpPr>
        <p:spPr>
          <a:xfrm>
            <a:off x="0" y="6400800"/>
            <a:ext cx="1905000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fld id="{12FE031B-BD65-43A6-B12E-FE42A16DB390}" type="datetime1">
              <a:rPr lang="en-US" altLang="en-US" smtClean="0"/>
              <a:pPr>
                <a:buFontTx/>
                <a:buNone/>
              </a:pPr>
              <a:t>6/4/2026</a:t>
            </a:fld>
            <a:endParaRPr lang="en-US" altLang="en-US"/>
          </a:p>
        </p:txBody>
      </p:sp>
      <p:sp>
        <p:nvSpPr>
          <p:cNvPr id="1229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204075" y="6400800"/>
            <a:ext cx="1905000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fld id="{D31728BE-F10B-4D2F-808B-EA4109488CCF}" type="slidenum">
              <a:rPr lang="en-US" altLang="en-US"/>
              <a:pPr>
                <a:buFontTx/>
                <a:buNone/>
              </a:pPr>
              <a:t>9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DC8C0C-6CD4-329E-B5D9-F24CADFC6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67" y="797488"/>
            <a:ext cx="5410059" cy="54952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55DD9-A1DF-C1B4-DFB4-4D592106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7B2519-6B71-14A7-210E-CB2AA290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CFB851-3DC9-4B58-B317-D9CB5F64AD38}" type="datetime1">
              <a:rPr lang="en-US" smtClean="0"/>
              <a:pPr>
                <a:defRPr/>
              </a:pPr>
              <a:t>6/4/2026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2CA363-4A25-9992-6F5B-F111BCB2E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0507EF-E66D-4C54-97C4-732AE674AAC9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40596F-17A4-7D81-D1AB-7008ABE23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100" y="5755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15600251-F2F3-FAD9-08AA-19301C903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88" y="73771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5.1.8After tapping the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610834-4D62-F9B6-5F38-17CD892EA468}"/>
              </a:ext>
            </a:extLst>
          </p:cNvPr>
          <p:cNvSpPr txBox="1"/>
          <p:nvPr/>
        </p:nvSpPr>
        <p:spPr>
          <a:xfrm>
            <a:off x="1600278" y="131784"/>
            <a:ext cx="6781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RESULTS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10FB89-5A0B-A1E7-04BB-D4739DAC7A29}"/>
              </a:ext>
            </a:extLst>
          </p:cNvPr>
          <p:cNvSpPr txBox="1"/>
          <p:nvPr/>
        </p:nvSpPr>
        <p:spPr>
          <a:xfrm>
            <a:off x="159602" y="1380901"/>
            <a:ext cx="88247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• Text data was successfully transmitted using mobile flashlight.</a:t>
            </a:r>
          </a:p>
          <a:p>
            <a:endParaRPr lang="en-IN" sz="1800" dirty="0"/>
          </a:p>
          <a:p>
            <a:r>
              <a:rPr lang="en-IN" sz="1800" dirty="0"/>
              <a:t>• LDR sensor accurately detected the light signals.</a:t>
            </a:r>
          </a:p>
          <a:p>
            <a:endParaRPr lang="en-IN" sz="1800" dirty="0"/>
          </a:p>
          <a:p>
            <a:r>
              <a:rPr lang="en-IN" sz="1800" dirty="0"/>
              <a:t>• Arduino UNO processed the received data correctly.</a:t>
            </a:r>
          </a:p>
          <a:p>
            <a:endParaRPr lang="en-IN" sz="1800" dirty="0"/>
          </a:p>
          <a:p>
            <a:r>
              <a:rPr lang="en-IN" sz="1800" dirty="0"/>
              <a:t>• Message was displayed on the LCD display.</a:t>
            </a:r>
          </a:p>
          <a:p>
            <a:endParaRPr lang="en-IN" sz="1800" dirty="0"/>
          </a:p>
          <a:p>
            <a:r>
              <a:rPr lang="en-IN" sz="1800" dirty="0"/>
              <a:t>• The project successfully demonstrated Li-Fi based data communication.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343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Date Placeholder 1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fld id="{E8783B25-8D61-410B-8FE0-D6C75250C2B6}" type="datetime1">
              <a:rPr lang="en-US" altLang="en-US" smtClean="0"/>
              <a:pPr>
                <a:buFontTx/>
                <a:buNone/>
              </a:pPr>
              <a:t>6/4/2026</a:t>
            </a:fld>
            <a:endParaRPr lang="en-US" altLang="en-US"/>
          </a:p>
        </p:txBody>
      </p:sp>
      <p:sp>
        <p:nvSpPr>
          <p:cNvPr id="17411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fld id="{5F49B22B-8D33-48BB-A117-2909C29EF4DC}" type="slidenum">
              <a:rPr lang="en-US" altLang="en-US"/>
              <a:pPr>
                <a:buFontTx/>
                <a:buNone/>
              </a:pPr>
              <a:t>11</a:t>
            </a:fld>
            <a:endParaRPr lang="en-US" altLang="en-US"/>
          </a:p>
        </p:txBody>
      </p:sp>
      <p:sp>
        <p:nvSpPr>
          <p:cNvPr id="4" name="Rectangle 3"/>
          <p:cNvSpPr/>
          <p:nvPr/>
        </p:nvSpPr>
        <p:spPr>
          <a:xfrm>
            <a:off x="2438400" y="2967038"/>
            <a:ext cx="4267200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efault Design">
  <a:themeElements>
    <a:clrScheme name="2_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1808</TotalTime>
  <Pages>0</Pages>
  <Words>631</Words>
  <Characters>0</Characters>
  <Application>Microsoft Office PowerPoint</Application>
  <DocSecurity>0</DocSecurity>
  <PresentationFormat>On-screen Show (4:3)</PresentationFormat>
  <Lines>0</Lines>
  <Paragraphs>143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Times New Roman</vt:lpstr>
      <vt:lpstr>Wingdings</vt:lpstr>
      <vt:lpstr>2_Default Design</vt:lpstr>
      <vt:lpstr>VISIBLE DATA COMMUNICATION ( Li-Fi) BASED DATA TRANSMISSION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asic implementation of Viterbi Decoder for Wireless applications</dc:title>
  <dc:subject>VLSI System Design - Pre Project Presentation Slides</dc:subject>
  <dc:creator>Phani.S</dc:creator>
  <cp:lastModifiedBy>Appu Rathod</cp:lastModifiedBy>
  <cp:revision>1426</cp:revision>
  <dcterms:created xsi:type="dcterms:W3CDTF">2006-03-21T10:54:45Z</dcterms:created>
  <dcterms:modified xsi:type="dcterms:W3CDTF">2026-06-04T09:59:33Z</dcterms:modified>
  <cp:category>VLSI - FT07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1033-9.1.0.4058</vt:lpwstr>
  </property>
</Properties>
</file>